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Plus Jakarta Sans"/>
      <p:regular r:id="rId25"/>
      <p:bold r:id="rId26"/>
      <p:italic r:id="rId27"/>
      <p:boldItalic r:id="rId28"/>
    </p:embeddedFont>
    <p:embeddedFont>
      <p:font typeface="Plus Jakarta Sa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SemiBold-italic.fntdata"/><Relationship Id="rId30" Type="http://schemas.openxmlformats.org/officeDocument/2006/relationships/font" Target="fonts/PlusJakartaSans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lusJakartaSans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9cf16750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979cf16750_0_2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9cf1675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979cf16750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79cf1675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79cf16750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9cf1675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79cf16750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474d89a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e474d89a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79cf16750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979cf16750_0_3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43.png"/><Relationship Id="rId6" Type="http://schemas.openxmlformats.org/officeDocument/2006/relationships/image" Target="../media/image38.png"/><Relationship Id="rId7" Type="http://schemas.openxmlformats.org/officeDocument/2006/relationships/image" Target="../media/image22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1.png"/><Relationship Id="rId13" Type="http://schemas.openxmlformats.org/officeDocument/2006/relationships/image" Target="../media/image27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30.png"/><Relationship Id="rId15" Type="http://schemas.openxmlformats.org/officeDocument/2006/relationships/image" Target="../media/image32.png"/><Relationship Id="rId14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Relationship Id="rId6" Type="http://schemas.openxmlformats.org/officeDocument/2006/relationships/image" Target="../media/image49.png"/><Relationship Id="rId7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6.png"/><Relationship Id="rId5" Type="http://schemas.openxmlformats.org/officeDocument/2006/relationships/image" Target="../media/image50.png"/><Relationship Id="rId6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Relationship Id="rId4" Type="http://schemas.openxmlformats.org/officeDocument/2006/relationships/hyperlink" Target="https://github.com/AkramArysl/Voice-of-Nurai.git" TargetMode="External"/><Relationship Id="rId5" Type="http://schemas.openxmlformats.org/officeDocument/2006/relationships/hyperlink" Target="https://trello.com/invite/b/6a0c11f86edfc860cb509f2c/ATTId99cf0dc62df9fc4ca905d8f3801b660B8EDD7A5/voice-of-nurai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3966500" y="4524925"/>
            <a:ext cx="4259100" cy="66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581C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9700" y="1046432"/>
            <a:ext cx="1752600" cy="35421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30304" y="1591143"/>
            <a:ext cx="111315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Voice of Nura:</a:t>
            </a:r>
            <a:r>
              <a:rPr b="1" lang="en-US" sz="5400">
                <a:solidFill>
                  <a:srgbClr val="F472B6"/>
                </a:solidFill>
                <a:latin typeface="Poppins"/>
                <a:ea typeface="Poppins"/>
                <a:cs typeface="Poppins"/>
                <a:sym typeface="Poppins"/>
              </a:rPr>
              <a:t> From Fear to</a:t>
            </a:r>
            <a:r>
              <a:rPr b="1" lang="en-US" sz="5400">
                <a:solidFill>
                  <a:srgbClr val="F472B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5400" u="none" cap="none" strike="noStrike">
                <a:solidFill>
                  <a:srgbClr val="F472B6"/>
                </a:solidFill>
                <a:latin typeface="Poppins"/>
                <a:ea typeface="Poppins"/>
                <a:cs typeface="Poppins"/>
                <a:sym typeface="Poppins"/>
              </a:rPr>
              <a:t>Digital Protection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77800" y="3578679"/>
            <a:ext cx="105840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comprehensive safety ecosystem dedicated to empowering women with tools to document, report, and respond to threats.</a:t>
            </a:r>
            <a:endParaRPr sz="800"/>
          </a:p>
        </p:txBody>
      </p:sp>
      <p:sp>
        <p:nvSpPr>
          <p:cNvPr id="89" name="Google Shape;89;p13"/>
          <p:cNvSpPr txBox="1"/>
          <p:nvPr/>
        </p:nvSpPr>
        <p:spPr>
          <a:xfrm>
            <a:off x="3857700" y="4587300"/>
            <a:ext cx="4476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by: </a:t>
            </a:r>
            <a:r>
              <a:rPr lang="en-US" sz="1350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Elnura, Aisezim, Amina,</a:t>
            </a:r>
            <a:endParaRPr sz="1350">
              <a:solidFill>
                <a:srgbClr val="581C8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Akram, Aizhan</a:t>
            </a:r>
            <a:endParaRPr>
              <a:solidFill>
                <a:srgbClr val="581C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E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771525" y="2591339"/>
            <a:ext cx="10649100" cy="3810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693515" y="2024601"/>
            <a:ext cx="285900" cy="28590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18281" y="1445913"/>
            <a:ext cx="223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Empathize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3823245" y="2024601"/>
            <a:ext cx="285900" cy="28590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848012" y="1445913"/>
            <a:ext cx="223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Define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952976" y="2024601"/>
            <a:ext cx="285900" cy="28590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977742" y="1445913"/>
            <a:ext cx="223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Ideate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8082706" y="2024601"/>
            <a:ext cx="285900" cy="28590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107473" y="1445913"/>
            <a:ext cx="223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Prototype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0212437" y="2024601"/>
            <a:ext cx="285900" cy="28590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237203" y="1445913"/>
            <a:ext cx="223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Test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247650" y="9525"/>
            <a:ext cx="1194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Design Thinking Roadmap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9525" y="9525"/>
            <a:ext cx="95400" cy="619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09550" y="3270828"/>
            <a:ext cx="114207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Voice of Nurai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 project began with a critical look at the "invisible" anxiety women face in Bishkek. Our research with over 100 students revealed a staggering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58% harassment rate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 and a profound distrust in official systems, with police trust rated at just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1.8/5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. This data redefined our mission: we weren't just fighting crime, we were fighting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isolation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Moving away from traditional reporting tools, we ideated a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Digital Shield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 focused on community-powered safety. We prototyped a stealth-mode mobile application featuring an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Evidence Vault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 for secure documentation,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SOS triggers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 with sub-10 second response times, and a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Safe Haven Map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 of 50+ verified locations in Bishkek.</a:t>
            </a:r>
            <a:endParaRPr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Validation testing proved our concept’s potential, showing a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64% decrease in user anxiety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 and an overwhelming </a:t>
            </a:r>
            <a:r>
              <a:rPr b="1"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83% demand for volunteer escorts</a:t>
            </a:r>
            <a:r>
              <a:rPr lang="en-US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. Ultimately, the project successfully transitioned from a culture of silence to a network of active protection, turning a user’s fear into a digital plan for safety.</a:t>
            </a:r>
            <a:endParaRPr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89871"/>
            <a:ext cx="10668000" cy="135999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47750" y="3554604"/>
            <a:ext cx="476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"Voice of Nurai was born from a tragedy that should never have happened." </a:t>
            </a:r>
            <a:endParaRPr sz="900"/>
          </a:p>
        </p:txBody>
      </p:sp>
      <p:sp>
        <p:nvSpPr>
          <p:cNvPr id="116" name="Google Shape;116;p15"/>
          <p:cNvSpPr/>
          <p:nvPr/>
        </p:nvSpPr>
        <p:spPr>
          <a:xfrm>
            <a:off x="762000" y="3554604"/>
            <a:ext cx="57300" cy="6303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095375" y="5023246"/>
            <a:ext cx="1000125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"We honor Nurai's memory by empowering women with the digital tools they deserve."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1361825"/>
            <a:ext cx="7546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Nurai was a young woman facing repeated stalking and harassment but lacked the tools and support to protect herself.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2185794"/>
            <a:ext cx="75465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created this platform to ensure that no one else faces danger alone, without the means to seek help or document threats.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47750" y="140950"/>
            <a:ext cx="118038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Empathy Stage 1</a:t>
            </a:r>
            <a:r>
              <a:rPr b="1" i="0" lang="en-US" sz="3300" u="none" cap="none" strike="noStrike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: Nurai’s Story</a:t>
            </a:r>
            <a:r>
              <a:rPr b="1" lang="en-US" sz="3300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b="1" sz="3300">
              <a:solidFill>
                <a:srgbClr val="581C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Our Problem (Why?)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62000" y="257906"/>
            <a:ext cx="76200" cy="8166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E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64008"/>
            <a:ext cx="4765661" cy="2448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0672" y="1964008"/>
            <a:ext cx="4765661" cy="244805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035584" y="2237593"/>
            <a:ext cx="42186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9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92%</a:t>
            </a:r>
            <a:endParaRPr sz="1297"/>
          </a:p>
        </p:txBody>
      </p:sp>
      <p:sp>
        <p:nvSpPr>
          <p:cNvPr id="129" name="Google Shape;129;p16"/>
          <p:cNvSpPr txBox="1"/>
          <p:nvPr/>
        </p:nvSpPr>
        <p:spPr>
          <a:xfrm>
            <a:off x="1035584" y="2899492"/>
            <a:ext cx="4218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9" u="none" cap="none" strike="noStrike">
                <a:solidFill>
                  <a:srgbClr val="1E1B4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Female Respondents</a:t>
            </a:r>
            <a:endParaRPr sz="1297"/>
          </a:p>
        </p:txBody>
      </p:sp>
      <p:sp>
        <p:nvSpPr>
          <p:cNvPr id="130" name="Google Shape;130;p16"/>
          <p:cNvSpPr txBox="1"/>
          <p:nvPr/>
        </p:nvSpPr>
        <p:spPr>
          <a:xfrm>
            <a:off x="1035584" y="3234855"/>
            <a:ext cx="42186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9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primary target is women, specifically the most vulnerable demographic in urban centers.</a:t>
            </a:r>
            <a:endParaRPr sz="1297"/>
          </a:p>
        </p:txBody>
      </p:sp>
      <p:sp>
        <p:nvSpPr>
          <p:cNvPr id="131" name="Google Shape;131;p16"/>
          <p:cNvSpPr txBox="1"/>
          <p:nvPr/>
        </p:nvSpPr>
        <p:spPr>
          <a:xfrm>
            <a:off x="6154256" y="2237593"/>
            <a:ext cx="42186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9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83%</a:t>
            </a:r>
            <a:endParaRPr sz="1297"/>
          </a:p>
        </p:txBody>
      </p:sp>
      <p:sp>
        <p:nvSpPr>
          <p:cNvPr id="132" name="Google Shape;132;p16"/>
          <p:cNvSpPr txBox="1"/>
          <p:nvPr/>
        </p:nvSpPr>
        <p:spPr>
          <a:xfrm>
            <a:off x="6154256" y="2899492"/>
            <a:ext cx="4218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9" u="none" cap="none" strike="noStrike">
                <a:solidFill>
                  <a:srgbClr val="1E1B4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Aged 18–25 (Students)</a:t>
            </a:r>
            <a:endParaRPr sz="1297"/>
          </a:p>
        </p:txBody>
      </p:sp>
      <p:sp>
        <p:nvSpPr>
          <p:cNvPr id="133" name="Google Shape;133;p16"/>
          <p:cNvSpPr txBox="1"/>
          <p:nvPr/>
        </p:nvSpPr>
        <p:spPr>
          <a:xfrm>
            <a:off x="6154256" y="3234855"/>
            <a:ext cx="42186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9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Most live with parents and navigate public transport/walking routes daily for studies.</a:t>
            </a:r>
            <a:endParaRPr sz="1297"/>
          </a:p>
        </p:txBody>
      </p:sp>
      <p:sp>
        <p:nvSpPr>
          <p:cNvPr id="134" name="Google Shape;134;p16"/>
          <p:cNvSpPr txBox="1"/>
          <p:nvPr/>
        </p:nvSpPr>
        <p:spPr>
          <a:xfrm>
            <a:off x="707745" y="5102791"/>
            <a:ext cx="9883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2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Mobility &amp; Health</a:t>
            </a:r>
            <a:endParaRPr sz="1308"/>
          </a:p>
        </p:txBody>
      </p:sp>
      <p:sp>
        <p:nvSpPr>
          <p:cNvPr id="135" name="Google Shape;135;p16"/>
          <p:cNvSpPr txBox="1"/>
          <p:nvPr/>
        </p:nvSpPr>
        <p:spPr>
          <a:xfrm>
            <a:off x="707745" y="5592090"/>
            <a:ext cx="9412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1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821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91%</a:t>
            </a:r>
            <a:r>
              <a:rPr b="0" i="0" lang="en-US" sz="1821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have no permanent health limitations.</a:t>
            </a:r>
            <a:endParaRPr sz="1308"/>
          </a:p>
        </p:txBody>
      </p:sp>
      <p:sp>
        <p:nvSpPr>
          <p:cNvPr id="136" name="Google Shape;136;p16"/>
          <p:cNvSpPr txBox="1"/>
          <p:nvPr/>
        </p:nvSpPr>
        <p:spPr>
          <a:xfrm>
            <a:off x="707745" y="6004796"/>
            <a:ext cx="9412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1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821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75%</a:t>
            </a:r>
            <a:r>
              <a:rPr b="0" i="0" lang="en-US" sz="1821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rarely/never wear shoes that hinder mobility (heels).</a:t>
            </a:r>
            <a:endParaRPr sz="1308"/>
          </a:p>
        </p:txBody>
      </p:sp>
      <p:sp>
        <p:nvSpPr>
          <p:cNvPr id="137" name="Google Shape;137;p16"/>
          <p:cNvSpPr txBox="1"/>
          <p:nvPr/>
        </p:nvSpPr>
        <p:spPr>
          <a:xfrm>
            <a:off x="1057275" y="6975723"/>
            <a:ext cx="100776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95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Result:</a:t>
            </a:r>
            <a:r>
              <a:rPr b="0" i="0" lang="en-US" sz="195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Users are physically mobile but limited by environment.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71500"/>
            <a:ext cx="10668000" cy="39231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52500" y="115431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Define Stage 2: </a:t>
            </a:r>
            <a:r>
              <a:rPr b="1" i="0" lang="en-US" sz="33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Demographics &amp; Profile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62000" y="1154310"/>
            <a:ext cx="95400" cy="619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6300" y="4548700"/>
            <a:ext cx="3230024" cy="1920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E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64000"/>
            <a:ext cx="4930513" cy="2386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7737" y="1964000"/>
            <a:ext cx="4930513" cy="2386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715736"/>
            <a:ext cx="10226250" cy="168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1045048" y="2247049"/>
            <a:ext cx="43647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4" u="none" cap="none" strike="noStrike">
                <a:solidFill>
                  <a:srgbClr val="BE12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58%</a:t>
            </a:r>
            <a:endParaRPr sz="1342"/>
          </a:p>
        </p:txBody>
      </p:sp>
      <p:sp>
        <p:nvSpPr>
          <p:cNvPr id="151" name="Google Shape;151;p17"/>
          <p:cNvSpPr txBox="1"/>
          <p:nvPr/>
        </p:nvSpPr>
        <p:spPr>
          <a:xfrm>
            <a:off x="1045048" y="2931844"/>
            <a:ext cx="4364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2" u="none" cap="none" strike="noStrike">
                <a:solidFill>
                  <a:srgbClr val="1E1B4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Experienced Stalking or Harassment</a:t>
            </a:r>
            <a:endParaRPr sz="1342"/>
          </a:p>
        </p:txBody>
      </p:sp>
      <p:sp>
        <p:nvSpPr>
          <p:cNvPr id="152" name="Google Shape;152;p17"/>
          <p:cNvSpPr txBox="1"/>
          <p:nvPr/>
        </p:nvSpPr>
        <p:spPr>
          <a:xfrm>
            <a:off x="1045048" y="3187501"/>
            <a:ext cx="4364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8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Includes "Ala-Kachuu" (bride kidnapping) reported by 50% of the social circle.</a:t>
            </a:r>
            <a:endParaRPr sz="1342"/>
          </a:p>
        </p:txBody>
      </p:sp>
      <p:sp>
        <p:nvSpPr>
          <p:cNvPr id="153" name="Google Shape;153;p17"/>
          <p:cNvSpPr txBox="1"/>
          <p:nvPr/>
        </p:nvSpPr>
        <p:spPr>
          <a:xfrm>
            <a:off x="6340785" y="2247049"/>
            <a:ext cx="458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1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Barriers to Help</a:t>
            </a:r>
            <a:endParaRPr sz="1342"/>
          </a:p>
        </p:txBody>
      </p:sp>
      <p:sp>
        <p:nvSpPr>
          <p:cNvPr id="154" name="Google Shape;154;p17"/>
          <p:cNvSpPr txBox="1"/>
          <p:nvPr/>
        </p:nvSpPr>
        <p:spPr>
          <a:xfrm>
            <a:off x="6340785" y="2749232"/>
            <a:ext cx="43647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Indifference</a:t>
            </a:r>
            <a:r>
              <a:rPr b="0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of others</a:t>
            </a:r>
            <a:br>
              <a:rPr b="0" i="0" lang="en-US" sz="17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Shame &amp; Stigma</a:t>
            </a:r>
            <a:br>
              <a:rPr b="0" i="0" lang="en-US" sz="17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Fear</a:t>
            </a:r>
            <a:r>
              <a:rPr b="0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of attacker retaliation</a:t>
            </a:r>
            <a:br>
              <a:rPr b="0" i="0" lang="en-US" sz="17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</a:t>
            </a:r>
            <a:r>
              <a:rPr b="1" i="0" lang="en-US" sz="172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Police Negligence</a:t>
            </a:r>
            <a:endParaRPr sz="1342"/>
          </a:p>
        </p:txBody>
      </p:sp>
      <p:sp>
        <p:nvSpPr>
          <p:cNvPr id="155" name="Google Shape;155;p17"/>
          <p:cNvSpPr txBox="1"/>
          <p:nvPr/>
        </p:nvSpPr>
        <p:spPr>
          <a:xfrm>
            <a:off x="1045048" y="4998785"/>
            <a:ext cx="96603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69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Psychological State:</a:t>
            </a:r>
            <a:r>
              <a:rPr b="0" i="0" lang="en-US" sz="1869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83% experience </a:t>
            </a:r>
            <a:r>
              <a:rPr b="1" i="0" lang="en-US" sz="1869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severe anxiety</a:t>
            </a:r>
            <a:r>
              <a:rPr b="0" i="0" lang="en-US" sz="1869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or hyper-vigilance ("constant space control") when returning home late.</a:t>
            </a:r>
            <a:endParaRPr sz="1342"/>
          </a:p>
        </p:txBody>
      </p:sp>
      <p:sp>
        <p:nvSpPr>
          <p:cNvPr id="156" name="Google Shape;156;p17"/>
          <p:cNvSpPr txBox="1"/>
          <p:nvPr/>
        </p:nvSpPr>
        <p:spPr>
          <a:xfrm>
            <a:off x="1227660" y="5845934"/>
            <a:ext cx="9477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25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"Women face negligence from state bodies... leading to a desire to remain silent." </a:t>
            </a:r>
            <a:endParaRPr sz="1342"/>
          </a:p>
        </p:txBody>
      </p:sp>
      <p:sp>
        <p:nvSpPr>
          <p:cNvPr id="157" name="Google Shape;157;p17"/>
          <p:cNvSpPr/>
          <p:nvPr/>
        </p:nvSpPr>
        <p:spPr>
          <a:xfrm>
            <a:off x="1045048" y="5845934"/>
            <a:ext cx="36600" cy="2742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3800" lIns="87650" spcFirstLastPara="1" rIns="87650" wrap="square" tIns="43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71500"/>
            <a:ext cx="10668000" cy="39231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952500" y="115431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The Vital Fear Statistics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62000" y="1154310"/>
            <a:ext cx="95400" cy="619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52700"/>
            <a:ext cx="4706724" cy="2443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7375" y="1852700"/>
            <a:ext cx="4706724" cy="2443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45149"/>
            <a:ext cx="9762094" cy="19750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032201" y="2122902"/>
            <a:ext cx="4374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6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Systemic Trust (Score 1-5)</a:t>
            </a:r>
            <a:endParaRPr sz="1281"/>
          </a:p>
        </p:txBody>
      </p:sp>
      <p:sp>
        <p:nvSpPr>
          <p:cNvPr id="169" name="Google Shape;169;p18"/>
          <p:cNvSpPr txBox="1"/>
          <p:nvPr/>
        </p:nvSpPr>
        <p:spPr>
          <a:xfrm>
            <a:off x="1032201" y="2602292"/>
            <a:ext cx="41667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18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1.8</a:t>
            </a:r>
            <a:endParaRPr sz="1281"/>
          </a:p>
        </p:txBody>
      </p:sp>
      <p:sp>
        <p:nvSpPr>
          <p:cNvPr id="170" name="Google Shape;170;p18"/>
          <p:cNvSpPr txBox="1"/>
          <p:nvPr/>
        </p:nvSpPr>
        <p:spPr>
          <a:xfrm>
            <a:off x="1032201" y="3256006"/>
            <a:ext cx="416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1E1B4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Avg. Trust in Police Response</a:t>
            </a:r>
            <a:endParaRPr sz="1281"/>
          </a:p>
        </p:txBody>
      </p:sp>
      <p:sp>
        <p:nvSpPr>
          <p:cNvPr id="171" name="Google Shape;171;p18"/>
          <p:cNvSpPr txBox="1"/>
          <p:nvPr/>
        </p:nvSpPr>
        <p:spPr>
          <a:xfrm>
            <a:off x="1032201" y="3500060"/>
            <a:ext cx="41667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5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Respondents cite "negligence" and "lack of justice" as reasons for not reporting incidents.</a:t>
            </a:r>
            <a:endParaRPr sz="1281"/>
          </a:p>
        </p:txBody>
      </p:sp>
      <p:sp>
        <p:nvSpPr>
          <p:cNvPr id="172" name="Google Shape;172;p18"/>
          <p:cNvSpPr txBox="1"/>
          <p:nvPr/>
        </p:nvSpPr>
        <p:spPr>
          <a:xfrm>
            <a:off x="6087577" y="2122902"/>
            <a:ext cx="4374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6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Desired Features</a:t>
            </a:r>
            <a:endParaRPr sz="1281"/>
          </a:p>
        </p:txBody>
      </p:sp>
      <p:sp>
        <p:nvSpPr>
          <p:cNvPr id="173" name="Google Shape;173;p18"/>
          <p:cNvSpPr txBox="1"/>
          <p:nvPr/>
        </p:nvSpPr>
        <p:spPr>
          <a:xfrm>
            <a:off x="1032201" y="4915351"/>
            <a:ext cx="9682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6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Voice: Advice to Others</a:t>
            </a:r>
            <a:endParaRPr sz="1281"/>
          </a:p>
        </p:txBody>
      </p:sp>
      <p:sp>
        <p:nvSpPr>
          <p:cNvPr id="174" name="Google Shape;174;p18"/>
          <p:cNvSpPr txBox="1"/>
          <p:nvPr/>
        </p:nvSpPr>
        <p:spPr>
          <a:xfrm>
            <a:off x="1032201" y="5394741"/>
            <a:ext cx="9222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1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"Don't be afraid to give back, don't be ashamed to ask for help... even if your idea of danger seems 'crazy' to you, tell someone so there is a witness."</a:t>
            </a:r>
            <a:endParaRPr sz="1281"/>
          </a:p>
        </p:txBody>
      </p:sp>
      <p:sp>
        <p:nvSpPr>
          <p:cNvPr id="175" name="Google Shape;175;p18"/>
          <p:cNvSpPr txBox="1"/>
          <p:nvPr/>
        </p:nvSpPr>
        <p:spPr>
          <a:xfrm>
            <a:off x="1032201" y="6018767"/>
            <a:ext cx="92220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3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Request: "Respond to the problem early, before it's too late."</a:t>
            </a:r>
            <a:endParaRPr sz="1281"/>
          </a:p>
        </p:txBody>
      </p:sp>
      <p:sp>
        <p:nvSpPr>
          <p:cNvPr id="176" name="Google Shape;176;p18"/>
          <p:cNvSpPr txBox="1"/>
          <p:nvPr/>
        </p:nvSpPr>
        <p:spPr>
          <a:xfrm>
            <a:off x="6087577" y="2602292"/>
            <a:ext cx="4166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475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4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91%</a:t>
            </a:r>
            <a:r>
              <a:rPr b="0" i="0" lang="en-US" sz="1784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want Safe Haven locations.</a:t>
            </a:r>
            <a:endParaRPr sz="1281"/>
          </a:p>
        </p:txBody>
      </p:sp>
      <p:sp>
        <p:nvSpPr>
          <p:cNvPr id="177" name="Google Shape;177;p18"/>
          <p:cNvSpPr txBox="1"/>
          <p:nvPr/>
        </p:nvSpPr>
        <p:spPr>
          <a:xfrm>
            <a:off x="6087577" y="3006642"/>
            <a:ext cx="4166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475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4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83%</a:t>
            </a:r>
            <a:r>
              <a:rPr b="0" i="0" lang="en-US" sz="1784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want Volunteer Escorts.</a:t>
            </a:r>
            <a:endParaRPr sz="1281"/>
          </a:p>
        </p:txBody>
      </p:sp>
      <p:sp>
        <p:nvSpPr>
          <p:cNvPr id="178" name="Google Shape;178;p18"/>
          <p:cNvSpPr txBox="1"/>
          <p:nvPr/>
        </p:nvSpPr>
        <p:spPr>
          <a:xfrm>
            <a:off x="6087577" y="3410992"/>
            <a:ext cx="4166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475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4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75%</a:t>
            </a:r>
            <a:r>
              <a:rPr b="0" i="0" lang="en-US" sz="1784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lack self-defense tools.</a:t>
            </a:r>
            <a:endParaRPr sz="1281"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661" y="2650232"/>
            <a:ext cx="200472" cy="235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2647" y="3054581"/>
            <a:ext cx="200472" cy="235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0619" y="3458930"/>
            <a:ext cx="200472" cy="235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8214"/>
            <a:ext cx="10668000" cy="39231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952500" y="991024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Digital Safety &amp; System Trust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62000" y="991024"/>
            <a:ext cx="95400" cy="619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62000" y="1455191"/>
            <a:ext cx="53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The Mission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1963737"/>
            <a:ext cx="50484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prevent tragedies by making danger </a:t>
            </a:r>
            <a:r>
              <a:rPr b="1" i="0" lang="en-US" sz="2400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visible</a:t>
            </a:r>
            <a:r>
              <a:rPr b="0" i="0" lang="en-US" sz="2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b="1" i="0" lang="en-US" sz="2400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trackable</a:t>
            </a:r>
            <a:r>
              <a:rPr b="0" i="0" lang="en-US" sz="2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and </a:t>
            </a:r>
            <a:r>
              <a:rPr b="1" i="0" lang="en-US" sz="2400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actionable</a:t>
            </a:r>
            <a:r>
              <a:rPr b="0" i="0" lang="en-US" sz="2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381750" y="1372100"/>
            <a:ext cx="5442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 immediate access to safe spaces.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381750" y="1763712"/>
            <a:ext cx="5048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Enable instant emergency alerts.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381750" y="2253208"/>
            <a:ext cx="5048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Facilitate anonymous incident reporting.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381750" y="2742703"/>
            <a:ext cx="5048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a community-based safety ecosystem.</a:t>
            </a:r>
            <a:endParaRPr/>
          </a:p>
        </p:txBody>
      </p:sp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2625" y="1379921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2625" y="180846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2625" y="2297858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2625" y="2742691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1000125" y="571500"/>
            <a:ext cx="1095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Mission and Vision (The Goal)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9" title="Снимок экрана 2026-04-23 1243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6446" y="3712525"/>
            <a:ext cx="1227710" cy="2668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title="Снимок экрана 2026-04-23 1242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0300" y="3712525"/>
            <a:ext cx="1260002" cy="266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title="Снимок экрана 2026-04-23 12424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8589" y="3712525"/>
            <a:ext cx="1243425" cy="2668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title="Снимок экрана 2026-04-23 12425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89775" y="3712525"/>
            <a:ext cx="1241054" cy="2668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title="Снимок экрана 2026-04-23 1242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1518" y="3775721"/>
            <a:ext cx="1260002" cy="2668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title="Снимок экрана 2026-04-23 12424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02751" y="3757949"/>
            <a:ext cx="1260000" cy="2703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title="Снимок экрана 2026-04-23 1243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3975" y="3732318"/>
            <a:ext cx="1259999" cy="273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500024"/>
            <a:ext cx="4424206" cy="2121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5968" y="1386375"/>
            <a:ext cx="4424206" cy="2349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4092779"/>
            <a:ext cx="4424206" cy="2121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5968" y="4092779"/>
            <a:ext cx="4424206" cy="2121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0443" y="1792266"/>
            <a:ext cx="487069" cy="48706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1130443" y="2441691"/>
            <a:ext cx="40320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5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Community</a:t>
            </a:r>
            <a:endParaRPr sz="1193"/>
          </a:p>
        </p:txBody>
      </p:sp>
      <p:sp>
        <p:nvSpPr>
          <p:cNvPr id="220" name="Google Shape;220;p20"/>
          <p:cNvSpPr txBox="1"/>
          <p:nvPr/>
        </p:nvSpPr>
        <p:spPr>
          <a:xfrm>
            <a:off x="1130443" y="2875106"/>
            <a:ext cx="38397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8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Connecting volunteers, verified safe spaces, and support networks for real-time vigilance.</a:t>
            </a:r>
            <a:endParaRPr sz="1193"/>
          </a:p>
        </p:txBody>
      </p:sp>
      <p:pic>
        <p:nvPicPr>
          <p:cNvPr descr="image.png" id="221" name="Google Shape;22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98211" y="1678616"/>
            <a:ext cx="487069" cy="48706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5798211" y="2328042"/>
            <a:ext cx="40320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5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Empowerment</a:t>
            </a:r>
            <a:endParaRPr sz="1193"/>
          </a:p>
        </p:txBody>
      </p:sp>
      <p:sp>
        <p:nvSpPr>
          <p:cNvPr id="223" name="Google Shape;223;p20"/>
          <p:cNvSpPr txBox="1"/>
          <p:nvPr/>
        </p:nvSpPr>
        <p:spPr>
          <a:xfrm>
            <a:off x="5798211" y="2761457"/>
            <a:ext cx="38397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8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Giving women control over their safety with tools to document, report, and respond on their own terms.</a:t>
            </a:r>
            <a:endParaRPr sz="1193"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0443" y="4385020"/>
            <a:ext cx="487069" cy="48706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1130443" y="5034446"/>
            <a:ext cx="40320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5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Immediate Action</a:t>
            </a:r>
            <a:endParaRPr sz="1193"/>
          </a:p>
        </p:txBody>
      </p:sp>
      <p:sp>
        <p:nvSpPr>
          <p:cNvPr id="226" name="Google Shape;226;p20"/>
          <p:cNvSpPr txBox="1"/>
          <p:nvPr/>
        </p:nvSpPr>
        <p:spPr>
          <a:xfrm>
            <a:off x="1130443" y="5467862"/>
            <a:ext cx="38397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8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Enabling quick access to resources when seconds matter most during a high-risk encounter.</a:t>
            </a:r>
            <a:endParaRPr sz="1193"/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8211" y="4385020"/>
            <a:ext cx="487069" cy="48706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798211" y="5034446"/>
            <a:ext cx="40320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5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Safety First</a:t>
            </a:r>
            <a:endParaRPr sz="1193"/>
          </a:p>
        </p:txBody>
      </p:sp>
      <p:sp>
        <p:nvSpPr>
          <p:cNvPr id="229" name="Google Shape;229;p20"/>
          <p:cNvSpPr txBox="1"/>
          <p:nvPr/>
        </p:nvSpPr>
        <p:spPr>
          <a:xfrm>
            <a:off x="5798211" y="5467862"/>
            <a:ext cx="38397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8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feature is designed with user safety and absolute privacy as the top priority.</a:t>
            </a:r>
            <a:endParaRPr sz="1193"/>
          </a:p>
        </p:txBody>
      </p:sp>
      <p:pic>
        <p:nvPicPr>
          <p:cNvPr descr="image.png" id="230" name="Google Shape;23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31916" y="1922151"/>
            <a:ext cx="284124" cy="227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28097" y="1808502"/>
            <a:ext cx="227300" cy="227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72505" y="4514906"/>
            <a:ext cx="202945" cy="227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40273" y="4514906"/>
            <a:ext cx="202945" cy="227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1000125" y="571500"/>
            <a:ext cx="1095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Ideate Stage 3: </a:t>
            </a:r>
            <a:r>
              <a:rPr b="1" i="0" lang="en-US" sz="3300" u="none" cap="none" strike="noStrike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Core Values of the Platform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41053"/>
            <a:ext cx="5048250" cy="262741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762000" y="5154215"/>
            <a:ext cx="10668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Practice: "Keep at least 2-3 trusted contacts for safety."</a:t>
            </a:r>
            <a:endParaRPr/>
          </a:p>
        </p:txBody>
      </p:sp>
      <p:pic>
        <p:nvPicPr>
          <p:cNvPr descr="image.png" id="243" name="Google Shape;24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8900" y="2298203"/>
            <a:ext cx="4933950" cy="251311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762000" y="2276772"/>
            <a:ext cx="50484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One-Press Alert: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Pressing the SOS button instantly alerts all trusted contacts.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762000" y="3208139"/>
            <a:ext cx="50484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Real-Time Data: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Contacts receive your live location and a custom help message.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762000" y="4139505"/>
            <a:ext cx="50484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Verification: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Test messages help ensure your contacts are ready for a real crisis.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000125" y="571500"/>
            <a:ext cx="1095136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Feature: Emergency SOS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17090"/>
            <a:ext cx="5269125" cy="337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1059075" y="1901590"/>
            <a:ext cx="48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Documentation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059075" y="2410140"/>
            <a:ext cx="46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Upload photos, videos, and screenshots (Max 10MB) as permanent evidence.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058950" y="3143565"/>
            <a:ext cx="48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472B6"/>
                </a:solidFill>
                <a:latin typeface="Poppins"/>
                <a:ea typeface="Poppins"/>
                <a:cs typeface="Poppins"/>
                <a:sym typeface="Poppins"/>
              </a:rPr>
              <a:t>Confidentiality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1058925" y="3652115"/>
            <a:ext cx="462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"Your personal information will not be shared. The report will help track patterns and protect others."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958450" y="4995177"/>
            <a:ext cx="504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Official Use:</a:t>
            </a:r>
            <a:endParaRPr sz="2400"/>
          </a:p>
        </p:txBody>
      </p:sp>
      <p:sp>
        <p:nvSpPr>
          <p:cNvPr id="260" name="Google Shape;260;p22"/>
          <p:cNvSpPr txBox="1"/>
          <p:nvPr/>
        </p:nvSpPr>
        <p:spPr>
          <a:xfrm>
            <a:off x="958450" y="5484672"/>
            <a:ext cx="50484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reports are securely stored and can be accessed by authorities if needed for legal action. We help bridge the gap between fear and justice.</a:t>
            </a:r>
            <a:endParaRPr sz="1100"/>
          </a:p>
        </p:txBody>
      </p:sp>
      <p:sp>
        <p:nvSpPr>
          <p:cNvPr id="261" name="Google Shape;261;p22"/>
          <p:cNvSpPr txBox="1"/>
          <p:nvPr/>
        </p:nvSpPr>
        <p:spPr>
          <a:xfrm>
            <a:off x="1000125" y="571500"/>
            <a:ext cx="1095136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Anonymous Incident Reporting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1600" y="1395526"/>
            <a:ext cx="3650700" cy="5067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34457"/>
            <a:ext cx="10668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762000" y="1455390"/>
            <a:ext cx="10668000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Connects users with a verified person who can accompany you if you feel unsafe.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762000" y="3094434"/>
            <a:ext cx="10668000" cy="3810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4291607"/>
            <a:ext cx="105537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/>
          <p:nvPr/>
        </p:nvSpPr>
        <p:spPr>
          <a:xfrm>
            <a:off x="2425600" y="23354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673101" y="2754510"/>
            <a:ext cx="37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Submit Request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762000" y="3259335"/>
            <a:ext cx="3555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Fill out route and time details via the platform.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5981551" y="23354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4229051" y="2754510"/>
            <a:ext cx="37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Get Matched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4317950" y="3259335"/>
            <a:ext cx="3555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trusted, verified volunteer is assigned to you.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9537501" y="233541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9333EA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7785002" y="2754510"/>
            <a:ext cx="37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Safe Journey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7873900" y="3259335"/>
            <a:ext cx="3555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Meet the volunteer and travel safely to your destination.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000125" y="571500"/>
            <a:ext cx="1095136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Volunteer Escort Service</a:t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622350"/>
            <a:ext cx="2702815" cy="134399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1021787" y="4805939"/>
            <a:ext cx="2452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5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Direct Platform Support</a:t>
            </a:r>
            <a:endParaRPr sz="750"/>
          </a:p>
        </p:txBody>
      </p:sp>
      <p:sp>
        <p:nvSpPr>
          <p:cNvPr id="290" name="Google Shape;290;p24"/>
          <p:cNvSpPr txBox="1"/>
          <p:nvPr/>
        </p:nvSpPr>
        <p:spPr>
          <a:xfrm>
            <a:off x="1021787" y="5078214"/>
            <a:ext cx="23355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4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Phone: +996 888 888 888</a:t>
            </a:r>
            <a:endParaRPr sz="750"/>
          </a:p>
        </p:txBody>
      </p:sp>
      <p:sp>
        <p:nvSpPr>
          <p:cNvPr id="291" name="Google Shape;291;p24"/>
          <p:cNvSpPr txBox="1"/>
          <p:nvPr/>
        </p:nvSpPr>
        <p:spPr>
          <a:xfrm>
            <a:off x="1021787" y="5263794"/>
            <a:ext cx="23355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4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Email: voiceofnuraiteam@gmail.com</a:t>
            </a:r>
            <a:endParaRPr sz="750"/>
          </a:p>
        </p:txBody>
      </p:sp>
      <p:sp>
        <p:nvSpPr>
          <p:cNvPr id="292" name="Google Shape;292;p24"/>
          <p:cNvSpPr txBox="1"/>
          <p:nvPr/>
        </p:nvSpPr>
        <p:spPr>
          <a:xfrm>
            <a:off x="1021787" y="5525870"/>
            <a:ext cx="2335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3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Locations: Erkindik Ave 14 and Chingiz Aitmatov Ave 23, Bishkek.</a:t>
            </a:r>
            <a:endParaRPr sz="750"/>
          </a:p>
        </p:txBody>
      </p:sp>
      <p:sp>
        <p:nvSpPr>
          <p:cNvPr id="293" name="Google Shape;293;p24"/>
          <p:cNvSpPr txBox="1"/>
          <p:nvPr/>
        </p:nvSpPr>
        <p:spPr>
          <a:xfrm>
            <a:off x="1000125" y="476250"/>
            <a:ext cx="1095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Emergency Resources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762000" y="476250"/>
            <a:ext cx="76200" cy="502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5" name="Google Shape;29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1375" y="4622450"/>
            <a:ext cx="3369650" cy="134398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6096000" y="1442455"/>
            <a:ext cx="53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472B6"/>
                </a:solidFill>
                <a:latin typeface="Poppins"/>
                <a:ea typeface="Poppins"/>
                <a:cs typeface="Poppins"/>
                <a:sym typeface="Poppins"/>
              </a:rPr>
              <a:t>Warning Signs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4016615" y="4857694"/>
            <a:ext cx="30438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2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Nurai Companion AI</a:t>
            </a:r>
            <a:endParaRPr sz="934"/>
          </a:p>
        </p:txBody>
      </p:sp>
      <p:sp>
        <p:nvSpPr>
          <p:cNvPr id="298" name="Google Shape;298;p24"/>
          <p:cNvSpPr txBox="1"/>
          <p:nvPr/>
        </p:nvSpPr>
        <p:spPr>
          <a:xfrm>
            <a:off x="4016615" y="5197148"/>
            <a:ext cx="28992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1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AI system suggests SOS mode automatically when risk triggers are high based on behavior patterns and context.</a:t>
            </a:r>
            <a:endParaRPr sz="934"/>
          </a:p>
        </p:txBody>
      </p:sp>
      <p:sp>
        <p:nvSpPr>
          <p:cNvPr id="299" name="Google Shape;299;p24"/>
          <p:cNvSpPr txBox="1"/>
          <p:nvPr/>
        </p:nvSpPr>
        <p:spPr>
          <a:xfrm>
            <a:off x="6096000" y="1951001"/>
            <a:ext cx="5048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Repeated unwanted contact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096000" y="2297622"/>
            <a:ext cx="5048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Following or surveillance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6096000" y="2644242"/>
            <a:ext cx="5048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Unwanted gifts or messages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096000" y="2990863"/>
            <a:ext cx="5048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b="0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 online activity</a:t>
            </a:r>
            <a:endParaRPr/>
          </a:p>
        </p:txBody>
      </p:sp>
      <p:pic>
        <p:nvPicPr>
          <p:cNvPr descr="image.png" id="303" name="Google Shape;30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200338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235000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269663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3043251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1265938"/>
            <a:ext cx="4560600" cy="3074700"/>
          </a:xfrm>
          <a:prstGeom prst="rect">
            <a:avLst/>
          </a:prstGeom>
          <a:noFill/>
          <a:ln cap="flat" cmpd="sng" w="9525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orms response chart. Question title: Пользовались ли вы когда-нибудь мобильными приложениями для безопасности (например, Google «Личная безопасность»)? Если да, то какими функциями?. Number of responses: 12 responses." id="308" name="Google Shape;308;p24" title="Пользовались ли вы когда-нибудь мобильными приложениями для безопасности (например, Google «Личная безопасность»)? Если да, то какими функциями?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03425" y="3443563"/>
            <a:ext cx="4736174" cy="2407401"/>
          </a:xfrm>
          <a:prstGeom prst="rect">
            <a:avLst/>
          </a:prstGeom>
          <a:noFill/>
          <a:ln cap="flat" cmpd="sng" w="9525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1512546"/>
            <a:ext cx="2917374" cy="293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7700" y="1576766"/>
            <a:ext cx="2266950" cy="35421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/>
        </p:nvSpPr>
        <p:spPr>
          <a:xfrm>
            <a:off x="4313450" y="2121477"/>
            <a:ext cx="4762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"Clarity comes when you pause, listen to yourself, and let things unfold naturally."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4027700" y="2121477"/>
            <a:ext cx="57300" cy="6399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4027700" y="2951938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Dr. Aizada Toktogulova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4027700" y="3437713"/>
            <a:ext cx="504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Led by experts, we focus on building resilience. "One message at the right moment can prevent panic."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1000125" y="571500"/>
            <a:ext cx="1095136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81C87"/>
                </a:solidFill>
                <a:latin typeface="Poppins"/>
                <a:ea typeface="Poppins"/>
                <a:cs typeface="Poppins"/>
                <a:sym typeface="Poppins"/>
              </a:rPr>
              <a:t>Mental Health and Inner Safety</a:t>
            </a:r>
            <a:endParaRPr/>
          </a:p>
        </p:txBody>
      </p:sp>
      <p:sp>
        <p:nvSpPr>
          <p:cNvPr id="321" name="Google Shape;321;p25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2" name="Google Shape;32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125" y="4890598"/>
            <a:ext cx="5048250" cy="1674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2875" y="4890598"/>
            <a:ext cx="5048250" cy="1674167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996025" y="5233498"/>
            <a:ext cx="458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Stay Aware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996025" y="5742044"/>
            <a:ext cx="4362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Avoid distractions like phones when walking. Let trusted contacts know your ETA.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6615775" y="5233498"/>
            <a:ext cx="458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Stick to Lighting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6615775" y="5742044"/>
            <a:ext cx="4362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Choose routes with good lighting and avoidshortcuts or isolated paths.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4186136" y="4292797"/>
            <a:ext cx="5756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64" u="none" cap="none" strike="noStrike">
                <a:solidFill>
                  <a:srgbClr val="581C8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"If something feels wrong, it probably is. Don't ignore your gut feelings." </a:t>
            </a:r>
            <a:endParaRPr sz="776"/>
          </a:p>
        </p:txBody>
      </p:sp>
      <p:sp>
        <p:nvSpPr>
          <p:cNvPr id="329" name="Google Shape;329;p25"/>
          <p:cNvSpPr/>
          <p:nvPr/>
        </p:nvSpPr>
        <p:spPr>
          <a:xfrm>
            <a:off x="4027700" y="4292797"/>
            <a:ext cx="31800" cy="184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25350" lIns="50700" spcFirstLastPara="1" rIns="50700" wrap="square" tIns="25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E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 txBox="1"/>
          <p:nvPr/>
        </p:nvSpPr>
        <p:spPr>
          <a:xfrm>
            <a:off x="736949" y="296550"/>
            <a:ext cx="111459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456150" y="1350625"/>
            <a:ext cx="112797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GitHub Repository: </a:t>
            </a:r>
            <a:r>
              <a:rPr b="1" lang="en-US" sz="3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https://github.com/AkramArysl/Voice-of-Nurai.git</a:t>
            </a:r>
            <a:endParaRPr b="1" sz="3100"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Trello:</a:t>
            </a:r>
            <a:endParaRPr b="1" sz="3100"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https://trello.com/invite/b/6a0c11f86edfc860cb509f2c/ATTId99cf0dc62df9fc4ca905d8f3801b660B8EDD7A5/voice-of-nurai</a:t>
            </a:r>
            <a:endParaRPr b="1" sz="3100"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rgbClr val="9333E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E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/>
          <p:nvPr/>
        </p:nvSpPr>
        <p:spPr>
          <a:xfrm>
            <a:off x="3675697" y="1114425"/>
            <a:ext cx="4840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9333E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5619750" y="2781300"/>
            <a:ext cx="952500" cy="573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3800475" y="3314700"/>
            <a:ext cx="459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your attention.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4314825" y="4362450"/>
            <a:ext cx="3562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voiceofnuraiteam@gmail.com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